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Tenyse opens. Introduce yourself and Verified Consulting in your own words — who you work with and what you do for them. Then hand to Cherice for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— Tenyse's own framing is better than anything on the slide. The point to land: the track record is real, the measurement was the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emotional centre of the pitch. Tenyse should say the third point out loud — that she has paid enterprise prices for this before — because it makes the build's value concrete.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grid. Name the six, then go straight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 — rehearse this exact path:
1. Owner dashboard, real data source selected.
2. Open a client with several placements (Houston Housing Authority has the most).
3. Press Placements — add one, click Calculate, show the AVE agent.
4. Log in as a client and show the same coverage from their side.
If the network is unreliable, fall back to screenshots — have them open in a tab before you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1% line is worth pausing on: we reproduced her own reported campaign figures from published formulas, which is how we know the model matches her methodology rather than approximating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transition slide — the one we agreed the whole bridge hangs on. Tenyse should deliver the last line, since Raise Local is her direction for the business.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Tenyse's framing, in her words. The distinction that matters: corporate gifting is not sponsorship — a business with product but no budget can still give, and that's most small businesses.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Tenyse asked for 'corporate sponsorship' and then corrected toward 'corporate gifting' — both are on the list now, because they're different asks. Highlighted chip is the new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is Sophia &amp; Grace's own, confirmed with Tenyse. The fundraising arithmetic — how many boxes at what markup reaches $8,000 — is still being set with Tenyse, so speak to the mechanism here, not a specific projection.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back to Tenyse to close in her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2E3B6E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06240"/>
            <a:ext cx="2377440" cy="2377440"/>
          </a:xfrm>
          <a:prstGeom prst="ellipse">
            <a:avLst/>
          </a:prstGeom>
          <a:solidFill>
            <a:srgbClr val="E2735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828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CONSULTING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8412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 of the work,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the $50,000 software.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 measurement platform built for how Tenyse actually works — and a first look at what comes next.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Tenyse Williams  ·  Cherice Heron        Pursuit Demo Day  ·  September 23,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THIS IS FOR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Consulting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Tenyse Williams runs a PR practice that places founders and mission-driven organizations in national press. The results are real and documented — the problem was never the work. It was proving it.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83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73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outlets placed for a single client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3383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73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217M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reach, cumulative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3383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73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$18M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publicity value, one client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223760" y="1737360"/>
            <a:ext cx="4251960" cy="4023360"/>
          </a:xfrm>
          <a:prstGeom prst="roundRect">
            <a:avLst>
              <a:gd name="adj" fmla="val 3182"/>
            </a:avLst>
          </a:prstGeom>
          <a:solidFill>
            <a:srgbClr val="E1F2F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43800" y="2011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in the platform today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242316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VeganHood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Candlelit Care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Co. (Solutions Not Punishment Collaborative)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Housing Authority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Nude Barre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VegansBaby — Vegan Dining Month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Greyz Bistro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Proving the work took as long as doing it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475488" cy="475488"/>
          </a:xfrm>
          <a:prstGeom prst="ellipse">
            <a:avLst/>
          </a:prstGeom>
          <a:solidFill>
            <a:srgbClr val="E273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20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88366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lived in a dozen places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26771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tracked by hand across email threads, spreadsheets and screenshots — with no single record of what ran, when, or for whom.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291840"/>
            <a:ext cx="475488" cy="475488"/>
          </a:xfrm>
          <a:prstGeom prst="ellipse">
            <a:avLst/>
          </a:prstGeom>
          <a:solidFill>
            <a:srgbClr val="E273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3291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25526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report meant starting over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63931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Pulling the same placements together again, re-checking dates and links, rebuilding the same summary in Canva each 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663440"/>
            <a:ext cx="475488" cy="475488"/>
          </a:xfrm>
          <a:prstGeom prst="ellipse">
            <a:avLst/>
          </a:prstGeom>
          <a:solidFill>
            <a:srgbClr val="C85A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4663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62686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that solve this cost $30–50K a year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501091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Meltwater, Coverage Books, SimilarWeb, NewsEdge — enterprise pricing for an independent practice. Tenyse had subscribed before; it isn't sustainable.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66760" y="2103120"/>
            <a:ext cx="3108960" cy="3200400"/>
          </a:xfrm>
          <a:prstGeom prst="roundRect">
            <a:avLst>
              <a:gd name="adj" fmla="val 4118"/>
            </a:avLst>
          </a:prstGeom>
          <a:solidFill>
            <a:srgbClr val="1F2A5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41080" y="2514600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Valuing a placement meant asking ChatGPT for an estimate and pasting the answer into the report.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4617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workflow we replaced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E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for the whole cycle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3375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F2A5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12848"/>
            <a:ext cx="310896" cy="310896"/>
          </a:xfrm>
          <a:prstGeom prst="ellipse">
            <a:avLst/>
          </a:prstGeom>
          <a:solidFill>
            <a:srgbClr val="3F9E9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99032" y="21762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dashboard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67004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client, placement and campaign in one view.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3375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F2A52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2212848"/>
            <a:ext cx="310896" cy="310896"/>
          </a:xfrm>
          <a:prstGeom prst="ellipse">
            <a:avLst/>
          </a:prstGeom>
          <a:solidFill>
            <a:srgbClr val="E2735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56632" y="21762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placements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67004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record — outlet, headline, link, dates, campaign.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1920240"/>
            <a:ext cx="33375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F2A52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75320" y="2212848"/>
            <a:ext cx="310896" cy="310896"/>
          </a:xfrm>
          <a:prstGeom prst="ellipse">
            <a:avLst/>
          </a:prstGeom>
          <a:solidFill>
            <a:srgbClr val="3F9E9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14232" y="21762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 calculation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67004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Publicity value per placement, derived and sourced.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3886200"/>
            <a:ext cx="33375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F2A52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0120" y="4178808"/>
            <a:ext cx="310896" cy="310896"/>
          </a:xfrm>
          <a:prstGeom prst="ellipse">
            <a:avLst/>
          </a:prstGeom>
          <a:solidFill>
            <a:srgbClr val="E2735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99032" y="41422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Mentions discovery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63600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the web for new coverage, queues it for review.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86200"/>
            <a:ext cx="33375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F2A52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17720" y="4178808"/>
            <a:ext cx="310896" cy="310896"/>
          </a:xfrm>
          <a:prstGeom prst="ellipse">
            <a:avLst/>
          </a:prstGeom>
          <a:solidFill>
            <a:srgbClr val="3F9E9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56632" y="41422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portal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463600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log in and see their own results. No PDF chasing.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01000" y="3886200"/>
            <a:ext cx="33375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F2A52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75320" y="4178808"/>
            <a:ext cx="310896" cy="310896"/>
          </a:xfrm>
          <a:prstGeom prst="ellipse">
            <a:avLst/>
          </a:prstGeom>
          <a:solidFill>
            <a:srgbClr val="E2735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14232" y="41422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&amp; export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63600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reports that drop into her existing Canva templates.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286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974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platform, running on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Tenyse's real client data.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dashboard  →  a client's placements  →  AVE on a new placement  →  the client's own portal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placement was actually worth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 — advertising value equivalent — is how Tenyse's clients understand what she delivered. It's also the number the expensive tools exist to produce. So the agent had to get it right without inventing anything.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08376"/>
            <a:ext cx="274320" cy="274320"/>
          </a:xfrm>
          <a:prstGeom prst="ellipse">
            <a:avLst/>
          </a:prstGeom>
          <a:solidFill>
            <a:srgbClr val="3F9E9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29718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guesses.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29718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saved rate for an outlet means it says so — it will not fall back to a placeholder or a zero.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4059936"/>
            <a:ext cx="274320" cy="274320"/>
          </a:xfrm>
          <a:prstGeom prst="ellipse">
            <a:avLst/>
          </a:prstGeom>
          <a:solidFill>
            <a:srgbClr val="3F9E9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40233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shows its working.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886200" y="4023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estimate names the audience figure behind it, where that figure came from, and when.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5111496"/>
            <a:ext cx="274320" cy="274320"/>
          </a:xfrm>
          <a:prstGeom prst="ellipse">
            <a:avLst/>
          </a:prstGeom>
          <a:solidFill>
            <a:srgbClr val="3F9E9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43000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flags what's uncertain.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886200" y="50749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figure with a known data problem is marked, and the dashboard says how much of the total rests on it.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818120" y="1737360"/>
            <a:ext cx="3657600" cy="4114800"/>
          </a:xfrm>
          <a:prstGeom prst="roundRect">
            <a:avLst>
              <a:gd name="adj" fmla="val 3500"/>
            </a:avLst>
          </a:prstGeom>
          <a:solidFill>
            <a:srgbClr val="1F2A5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2440" y="20574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the same formulas the paid platforms publish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29260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Muck Rack and Agility PR both document how they calculate AVE. The platform applies both and shows the range, rather than pretending to a precision the industry doesn't have.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092440" y="48006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i="1" dirty="0">
                <a:solidFill>
                  <a:srgbClr val="E1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Tenyse's own campaign results — the model lands within 1%.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1F2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is the start, not the finish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coaching modules came out of a pattern Tenyse kept seeing: a client lands national press, and then isn't sure what to do with it. Visibility doesn't convert itself.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" y="3401568"/>
            <a:ext cx="19751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lands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6118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429000" y="32004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30168" y="3401568"/>
            <a:ext cx="19751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is coached through 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36118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172200" y="32004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73368" y="3401568"/>
            <a:ext cx="19751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turns into revenue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549640" y="36118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915400" y="32004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E2735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16568" y="3401568"/>
            <a:ext cx="19751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becomes the next channel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029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1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last step is where Raise Local begins.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LOCAL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783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we're filling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834640"/>
            <a:ext cx="5120640" cy="1508760"/>
          </a:xfrm>
          <a:prstGeom prst="roundRect">
            <a:avLst>
              <a:gd name="adj" fmla="val 7273"/>
            </a:avLst>
          </a:prstGeom>
          <a:solidFill>
            <a:srgbClr val="2E3B6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3063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and nonprofits need support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45643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campaigns and events, and rarely a budget to run them.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2834640"/>
            <a:ext cx="5074920" cy="1508760"/>
          </a:xfrm>
          <a:prstGeom prst="roundRect">
            <a:avLst>
              <a:gd name="adj" fmla="val 7273"/>
            </a:avLst>
          </a:prstGeom>
          <a:solidFill>
            <a:srgbClr val="2E3B6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20840" y="30632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Businesses want to give back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3456432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Meaningfully, and in a way that reaches their own neighbourhood.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617720"/>
            <a:ext cx="10789920" cy="1371600"/>
          </a:xfrm>
          <a:prstGeom prst="roundRect">
            <a:avLst>
              <a:gd name="adj" fmla="val 8000"/>
            </a:avLst>
          </a:prstGeom>
          <a:solidFill>
            <a:srgbClr val="E273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480060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simple, structured way to match them.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52120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gifting closes it — businesses give products or gift packages straight to a campaign, an event, or a community need. Not only cash sponsorship.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short intake, then a real match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answer the same ten-question Match Finder. A decision tree reads the answers and surfaces partners that actually fit — cause, category, location, timing and the kind of support being offered.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017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partner would best support your campaign?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3520440"/>
            <a:ext cx="1531620" cy="438912"/>
          </a:xfrm>
          <a:prstGeom prst="roundRect">
            <a:avLst>
              <a:gd name="adj" fmla="val 50000"/>
            </a:avLst>
          </a:prstGeom>
          <a:solidFill>
            <a:srgbClr val="F2EEE8"/>
          </a:solidFill>
          <a:ln w="12700">
            <a:solidFill>
              <a:srgbClr val="DDD6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520440"/>
            <a:ext cx="15316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&amp; beverage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382012" y="3520440"/>
            <a:ext cx="2619756" cy="438912"/>
          </a:xfrm>
          <a:prstGeom prst="roundRect">
            <a:avLst>
              <a:gd name="adj" fmla="val 50000"/>
            </a:avLst>
          </a:prstGeom>
          <a:solidFill>
            <a:srgbClr val="FBE2DA"/>
          </a:solidFill>
          <a:ln w="12700">
            <a:solidFill>
              <a:srgbClr val="E273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82012" y="3520440"/>
            <a:ext cx="26197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8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or corporate gifting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4087368"/>
            <a:ext cx="1997964" cy="438912"/>
          </a:xfrm>
          <a:prstGeom prst="roundRect">
            <a:avLst>
              <a:gd name="adj" fmla="val 50000"/>
            </a:avLst>
          </a:prstGeom>
          <a:solidFill>
            <a:srgbClr val="F2EEE8"/>
          </a:solidFill>
          <a:ln w="12700">
            <a:solidFill>
              <a:srgbClr val="DD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087368"/>
            <a:ext cx="19979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services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848356" y="4087368"/>
            <a:ext cx="1220724" cy="438912"/>
          </a:xfrm>
          <a:prstGeom prst="roundRect">
            <a:avLst>
              <a:gd name="adj" fmla="val 50000"/>
            </a:avLst>
          </a:prstGeom>
          <a:solidFill>
            <a:srgbClr val="F2EEE8"/>
          </a:solidFill>
          <a:ln w="12700">
            <a:solidFill>
              <a:srgbClr val="DDD6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48356" y="4087368"/>
            <a:ext cx="12207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media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33672" y="4087368"/>
            <a:ext cx="1220724" cy="438912"/>
          </a:xfrm>
          <a:prstGeom prst="roundRect">
            <a:avLst>
              <a:gd name="adj" fmla="val 50000"/>
            </a:avLst>
          </a:prstGeom>
          <a:solidFill>
            <a:srgbClr val="F2EEE8"/>
          </a:solidFill>
          <a:ln w="12700">
            <a:solidFill>
              <a:srgbClr val="DDD6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33672" y="4087368"/>
            <a:ext cx="12207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space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4654296"/>
            <a:ext cx="1609344" cy="438912"/>
          </a:xfrm>
          <a:prstGeom prst="roundRect">
            <a:avLst>
              <a:gd name="adj" fmla="val 50000"/>
            </a:avLst>
          </a:prstGeom>
          <a:solidFill>
            <a:srgbClr val="F2EEE8"/>
          </a:solidFill>
          <a:ln w="12700">
            <a:solidFill>
              <a:srgbClr val="DDD6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65429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activation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459736" y="4654296"/>
            <a:ext cx="1997964" cy="438912"/>
          </a:xfrm>
          <a:prstGeom prst="roundRect">
            <a:avLst>
              <a:gd name="adj" fmla="val 50000"/>
            </a:avLst>
          </a:prstGeom>
          <a:solidFill>
            <a:srgbClr val="F2EEE8"/>
          </a:solidFill>
          <a:ln w="12700">
            <a:solidFill>
              <a:srgbClr val="DDD6C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459736" y="4654296"/>
            <a:ext cx="19979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sponsorship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06640" y="1737360"/>
            <a:ext cx="4069080" cy="4160520"/>
          </a:xfrm>
          <a:prstGeom prst="roundRect">
            <a:avLst>
              <a:gd name="adj" fmla="val 3146"/>
            </a:avLst>
          </a:prstGeom>
          <a:solidFill>
            <a:srgbClr val="1F2A5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26680" y="2057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decision tree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256032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match can be explained. You can point at the answers that produced it and say why these two were put together — which matters when you're asking a business to give something away, and a school to stake an event on it.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5029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1F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black box. That's deliberate.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E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MATCH IN PRACTICE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 120 PTA, meet Sophia &amp; Grace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0292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057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E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774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PTA in Brooklyn raising $8,000 for after-school programs, one to three months out.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1663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2057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37744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Sophia &amp; Grace — a local bakery that can take volume orders and wants to show up for its own neighbourhood.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4114800"/>
            <a:ext cx="2514600" cy="1234440"/>
          </a:xfrm>
          <a:prstGeom prst="roundRect">
            <a:avLst>
              <a:gd name="adj" fmla="val 8889"/>
            </a:avLst>
          </a:prstGeom>
          <a:solidFill>
            <a:srgbClr val="1F2A5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2793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$2.75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828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1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cookie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429000" y="4114800"/>
            <a:ext cx="2514600" cy="1234440"/>
          </a:xfrm>
          <a:prstGeom prst="roundRect">
            <a:avLst>
              <a:gd name="adj" fmla="val 8889"/>
            </a:avLst>
          </a:prstGeom>
          <a:solidFill>
            <a:srgbClr val="1F2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0" y="42793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4828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1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dozen box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4114800"/>
            <a:ext cx="2514600" cy="1234440"/>
          </a:xfrm>
          <a:prstGeom prst="roundRect">
            <a:avLst>
              <a:gd name="adj" fmla="val 8889"/>
            </a:avLst>
          </a:prstGeom>
          <a:solidFill>
            <a:srgbClr val="1F2A5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42793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doz.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828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1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order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15400" y="4114800"/>
            <a:ext cx="2514600" cy="1234440"/>
          </a:xfrm>
          <a:prstGeom prst="roundRect">
            <a:avLst>
              <a:gd name="adj" fmla="val 8889"/>
            </a:avLst>
          </a:prstGeom>
          <a:solidFill>
            <a:srgbClr val="1F2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0" y="42793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 days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4828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1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 at volume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5778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pricing from a real business — the match copy fills in from it, so a PTA sees what the partnership actually yields.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keep going after today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75488" cy="475488"/>
          </a:xfrm>
          <a:prstGeom prst="ellipse">
            <a:avLst/>
          </a:prstGeom>
          <a:solidFill>
            <a:srgbClr val="3F9E9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9476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 Tenyse's own database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33172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the platform onto her Supabase account so it's hers outright — data, keys and all.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291840"/>
            <a:ext cx="475488" cy="475488"/>
          </a:xfrm>
          <a:prstGeom prst="ellipse">
            <a:avLst/>
          </a:prstGeom>
          <a:solidFill>
            <a:srgbClr val="3F9E9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3291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2735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agent on a schedule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6576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found and queued automatically, instead of a search she has to remember to run.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617720"/>
            <a:ext cx="475488" cy="475488"/>
          </a:xfrm>
          <a:prstGeom prst="ellipse">
            <a:avLst/>
          </a:prstGeom>
          <a:solidFill>
            <a:srgbClr val="E273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4617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5994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Local, built out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9834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7A6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matchmaking shown today becomes the working product, with real signups already waiting.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0" y="1920240"/>
            <a:ext cx="3886200" cy="3657600"/>
          </a:xfrm>
          <a:prstGeom prst="roundRect">
            <a:avLst>
              <a:gd name="adj" fmla="val 3500"/>
            </a:avLst>
          </a:prstGeom>
          <a:solidFill>
            <a:srgbClr val="FBE2D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09560" y="2240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of all of it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909560" y="2743200"/>
            <a:ext cx="32918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practice gets the measurement infrastructure that used to require an enterprise contract — and keeps the relationships that made the work good in the first place.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931920"/>
            <a:ext cx="4206240" cy="4206240"/>
          </a:xfrm>
          <a:prstGeom prst="ellipse">
            <a:avLst/>
          </a:prstGeom>
          <a:solidFill>
            <a:srgbClr val="2E3B6E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-1097280"/>
            <a:ext cx="3291840" cy="3291840"/>
          </a:xfrm>
          <a:prstGeom prst="ellipse">
            <a:avLst/>
          </a:prstGeom>
          <a:solidFill>
            <a:srgbClr val="E2735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468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5661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Tenyse Williams — Verified Consulting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Cherice Heron — Pursuit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7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verifiedconsulting.com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Verified Consulting — Demo Day</dc:title>
  <dc:subject>PptxGenJS Presentation</dc:subject>
  <dc:creator>Cherice Heron</dc:creator>
  <cp:lastModifiedBy>Cherice Heron</cp:lastModifiedBy>
  <cp:revision>1</cp:revision>
  <dcterms:created xsi:type="dcterms:W3CDTF">2026-09-16T03:23:11Z</dcterms:created>
  <dcterms:modified xsi:type="dcterms:W3CDTF">2026-09-16T03:23:11Z</dcterms:modified>
</cp:coreProperties>
</file>