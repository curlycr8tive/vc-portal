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Tenyse opens. Introduce yourself and Verified Consulting in your own words — who you work with and what you do for them. Then hand to Cherice for the problem.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Keep this short — Tenyse's own framing is better than anything on the slide. The point to land: the track record is real, the measurement was the gap.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emotional centre of the pitch. Tenyse should say the third point out loud — that she has paid enterprise prices for this before — because it makes the build's value concrete.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Don't read the grid. Name the six, then go straight to the live demo.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DEMO ORDER — rehearse this exact path:
1. Owner dashboard, real data source selected. SIGN IN WITH THE REAL SUPABASE OWNER ACCOUNT, not the demo link — the AVE research and discovery features are hidden on the mock login.
2. Open SNAP Co. Use SNAP Co. specifically: all four of its outlets have sourced audience figures, so Calculate returns a real range. Houston Housing Authority has more placements but none of its outlets have figures yet, so the calculator falls through there.
3. Press Placements — add one for Blavity News, click Calculate: it returns $3,416 – $37,913 with the source named. Then try QSR Magazine, which has no figure, and use Research this rate — it comes back with a sourced estimate from the outlet's own published ad rates.
4. Tick 'save this rate for next time' — the next placement at that outlet returns the saved rate instantly. That arc is the whole feature.
5. Log in as a client and show the same coverage from their side.
If the network is unreliable, fall back to screenshots — have them open in a tab before you start.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1% line is worth pausing on: we reproduced her own reported campaign figures from published formulas, which is how we know the model matches her methodology rather than approximating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transition slide — the one we agreed the whole bridge hangs on. Tenyse should deliver the last line, since Raise Local is her direction for the business.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Tenyse's framing, in her words. The distinction that matters: corporate gifting is not sponsorship — a business with product but no budget can still give, and that's most small businesses.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Tenyse asked for 'corporate sponsorship' and then corrected toward 'corporate gifting' — both are on the list now, because they're different asks. Highlighted chip is the new one.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Pricing is Sophia &amp; Grace's own, confirmed with Tenyse. The fundraising arithmetic — how many boxes at what markup reaches $8,000 — is still being set with Tenyse, so speak to the mechanism here, not a specific projection.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Hand back to Tenyse to close in her own words.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Leave this up for Q&amp;A.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2A5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09760" y="-1371600"/>
            <a:ext cx="4754880" cy="4754880"/>
          </a:xfrm>
          <a:prstGeom prst="ellipse">
            <a:avLst/>
          </a:prstGeom>
          <a:solidFill>
            <a:srgbClr val="2E3B6E"/>
          </a:solidFill>
          <a:ln/>
        </p:spPr>
      </p:sp>
      <p:sp>
        <p:nvSpPr>
          <p:cNvPr id="3" name="Shape 1"/>
          <p:cNvSpPr/>
          <p:nvPr/>
        </p:nvSpPr>
        <p:spPr>
          <a:xfrm>
            <a:off x="10881360" y="4206240"/>
            <a:ext cx="2377440" cy="2377440"/>
          </a:xfrm>
          <a:prstGeom prst="ellipse">
            <a:avLst/>
          </a:prstGeom>
          <a:solidFill>
            <a:srgbClr val="E2735A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85800" y="18288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E273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 CONSULTING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2286000"/>
            <a:ext cx="84124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5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Proof of the work,</a:t>
            </a:r>
            <a:endParaRPr lang="en-US" sz="4400" dirty="0"/>
          </a:p>
          <a:p>
            <a:pPr indent="0" marL="0">
              <a:lnSpc>
                <a:spcPts val="5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without the $50,000 software.</a:t>
            </a:r>
            <a:endParaRPr lang="en-US" sz="44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420624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2E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 measurement platform built for how Tenyse actually works — and a first look at what comes next.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58521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A6D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Tenyse Williams  ·  Cherice Heron        Pursuit Demo Day  ·  September 23,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4754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273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THIS IS FOR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804672"/>
            <a:ext cx="10789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F2A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Verified Consulting</a:t>
            </a:r>
            <a:endParaRPr lang="en-US" sz="380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1783080"/>
            <a:ext cx="5943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2B2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Tenyse Williams runs a PR practice that places founders and mission-driven organizations in national press. The results are real and documented — the problem was never the work. It was proving it.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3383280"/>
            <a:ext cx="1920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E273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50+</a:t>
            </a:r>
            <a:endParaRPr lang="en-US" sz="40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406908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A6D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outlets placed for a single client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2743200" y="3383280"/>
            <a:ext cx="1920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E273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217M</a:t>
            </a:r>
            <a:endParaRPr lang="en-US" sz="4000" dirty="0"/>
          </a:p>
        </p:txBody>
      </p:sp>
      <p:sp>
        <p:nvSpPr>
          <p:cNvPr id="8" name="Text 6"/>
          <p:cNvSpPr txBox="1"/>
          <p:nvPr/>
        </p:nvSpPr>
        <p:spPr>
          <a:xfrm>
            <a:off x="2743200" y="406908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A6D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audience reach, cumulative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4800600" y="3383280"/>
            <a:ext cx="1920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E273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$18M</a:t>
            </a:r>
            <a:endParaRPr lang="en-US" sz="4000" dirty="0"/>
          </a:p>
        </p:txBody>
      </p:sp>
      <p:sp>
        <p:nvSpPr>
          <p:cNvPr id="10" name="Text 8"/>
          <p:cNvSpPr txBox="1"/>
          <p:nvPr/>
        </p:nvSpPr>
        <p:spPr>
          <a:xfrm>
            <a:off x="4800600" y="406908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A6D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lifetime publicity value, one client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7223760" y="1737360"/>
            <a:ext cx="4251960" cy="4023360"/>
          </a:xfrm>
          <a:prstGeom prst="roundRect">
            <a:avLst>
              <a:gd name="adj" fmla="val 3182"/>
            </a:avLst>
          </a:prstGeom>
          <a:solidFill>
            <a:srgbClr val="E1F2F0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7543800" y="20116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Clients in the platform today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7543800" y="2423160"/>
            <a:ext cx="365760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B2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VeganHood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B2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Candlelit Care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B2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SNAP Co. (Solutions Not Punishment Collaborative)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B2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Houston Housing Authority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B2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Nude Barre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B2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VegansBaby — Vegan Dining Month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B2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Greyz Bistro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4754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273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804672"/>
            <a:ext cx="10789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F2A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Proving the work took as long as doing it</a:t>
            </a:r>
            <a:endParaRPr lang="en-US" sz="3800" dirty="0"/>
          </a:p>
        </p:txBody>
      </p:sp>
      <p:sp>
        <p:nvSpPr>
          <p:cNvPr id="4" name="Shape 2"/>
          <p:cNvSpPr/>
          <p:nvPr/>
        </p:nvSpPr>
        <p:spPr>
          <a:xfrm>
            <a:off x="685800" y="1920240"/>
            <a:ext cx="475488" cy="475488"/>
          </a:xfrm>
          <a:prstGeom prst="ellipse">
            <a:avLst/>
          </a:prstGeom>
          <a:solidFill>
            <a:srgbClr val="E2735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85800" y="192024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417320" y="1883664"/>
            <a:ext cx="6583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2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Placements lived in a dozen places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1417320" y="2267712"/>
            <a:ext cx="6583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7A6D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Coverage tracked by hand across email threads, spreadsheets and screenshots — with no single record of what ran, when, or for whom.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85800" y="3291840"/>
            <a:ext cx="475488" cy="475488"/>
          </a:xfrm>
          <a:prstGeom prst="ellipse">
            <a:avLst/>
          </a:prstGeom>
          <a:solidFill>
            <a:srgbClr val="E2735A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85800" y="329184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1417320" y="3255264"/>
            <a:ext cx="6583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2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client report meant starting over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1417320" y="3639312"/>
            <a:ext cx="6583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7A6D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Pulling the same placements together again, re-checking dates and links, rebuilding the same summary in Canva each time.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85800" y="4663440"/>
            <a:ext cx="475488" cy="475488"/>
          </a:xfrm>
          <a:prstGeom prst="ellipse">
            <a:avLst/>
          </a:prstGeom>
          <a:solidFill>
            <a:srgbClr val="C85A42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85800" y="466344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1417320" y="4626864"/>
            <a:ext cx="6583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2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tools that solve this cost $30–50K a year</a:t>
            </a:r>
            <a:endParaRPr lang="en-US" sz="1700" dirty="0"/>
          </a:p>
        </p:txBody>
      </p:sp>
      <p:sp>
        <p:nvSpPr>
          <p:cNvPr id="15" name="Text 13"/>
          <p:cNvSpPr txBox="1"/>
          <p:nvPr/>
        </p:nvSpPr>
        <p:spPr>
          <a:xfrm>
            <a:off x="1417320" y="5010912"/>
            <a:ext cx="6583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7A6D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Meltwater, Coverage Books, SimilarWeb, NewsEdge — enterprise pricing for an independent practice. Tenyse had subscribed before; it isn't sustainable.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8366760" y="2103120"/>
            <a:ext cx="3108960" cy="3200400"/>
          </a:xfrm>
          <a:prstGeom prst="roundRect">
            <a:avLst>
              <a:gd name="adj" fmla="val 4118"/>
            </a:avLst>
          </a:prstGeom>
          <a:solidFill>
            <a:srgbClr val="1F2A52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8641080" y="2514600"/>
            <a:ext cx="25603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5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Valuing a placement meant asking ChatGPT for an estimate and pasting the answer into the report.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8641080" y="461772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73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the workflow we replaced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2EE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4754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273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BUILT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804672"/>
            <a:ext cx="10789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F2A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place for the whole cycle</a:t>
            </a:r>
            <a:endParaRPr lang="en-US" sz="3800" dirty="0"/>
          </a:p>
        </p:txBody>
      </p:sp>
      <p:sp>
        <p:nvSpPr>
          <p:cNvPr id="4" name="Shape 2"/>
          <p:cNvSpPr/>
          <p:nvPr/>
        </p:nvSpPr>
        <p:spPr>
          <a:xfrm>
            <a:off x="685800" y="1920240"/>
            <a:ext cx="3337560" cy="1691640"/>
          </a:xfrm>
          <a:prstGeom prst="roundRect">
            <a:avLst>
              <a:gd name="adj" fmla="val 648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25400" dir="5400000">
              <a:srgbClr val="1F2A52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60120" y="2212848"/>
            <a:ext cx="310896" cy="310896"/>
          </a:xfrm>
          <a:prstGeom prst="ellipse">
            <a:avLst/>
          </a:prstGeom>
          <a:solidFill>
            <a:srgbClr val="3F9E97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399032" y="2176272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 dashboard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960120" y="2670048"/>
            <a:ext cx="2788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7A6D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client, placement and campaign in one view.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343400" y="1920240"/>
            <a:ext cx="3337560" cy="1691640"/>
          </a:xfrm>
          <a:prstGeom prst="roundRect">
            <a:avLst>
              <a:gd name="adj" fmla="val 648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25400" dir="5400000">
              <a:srgbClr val="1F2A52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617720" y="2212848"/>
            <a:ext cx="310896" cy="310896"/>
          </a:xfrm>
          <a:prstGeom prst="ellipse">
            <a:avLst/>
          </a:prstGeom>
          <a:solidFill>
            <a:srgbClr val="E2735A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5056632" y="2176272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Press placements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4617720" y="2670048"/>
            <a:ext cx="2788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7A6D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real record — outlet, headline, link, dates, campaign.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001000" y="1920240"/>
            <a:ext cx="3337560" cy="1691640"/>
          </a:xfrm>
          <a:prstGeom prst="roundRect">
            <a:avLst>
              <a:gd name="adj" fmla="val 648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25400" dir="5400000">
              <a:srgbClr val="1F2A52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8275320" y="2212848"/>
            <a:ext cx="310896" cy="310896"/>
          </a:xfrm>
          <a:prstGeom prst="ellipse">
            <a:avLst/>
          </a:prstGeom>
          <a:solidFill>
            <a:srgbClr val="3F9E97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8714232" y="2176272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 calculation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8275320" y="2670048"/>
            <a:ext cx="2788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7A6D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Publicity value per placement, derived and sourced.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85800" y="3886200"/>
            <a:ext cx="3337560" cy="1691640"/>
          </a:xfrm>
          <a:prstGeom prst="roundRect">
            <a:avLst>
              <a:gd name="adj" fmla="val 648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25400" dir="5400000">
              <a:srgbClr val="1F2A52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960120" y="4178808"/>
            <a:ext cx="310896" cy="310896"/>
          </a:xfrm>
          <a:prstGeom prst="ellipse">
            <a:avLst/>
          </a:prstGeom>
          <a:solidFill>
            <a:srgbClr val="E2735A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1399032" y="4142232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Mentions discovery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960120" y="4636008"/>
            <a:ext cx="2788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7A6D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Searches the web for new coverage, queues it for review.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343400" y="3886200"/>
            <a:ext cx="3337560" cy="1691640"/>
          </a:xfrm>
          <a:prstGeom prst="roundRect">
            <a:avLst>
              <a:gd name="adj" fmla="val 648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25400" dir="5400000">
              <a:srgbClr val="1F2A52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617720" y="4178808"/>
            <a:ext cx="310896" cy="310896"/>
          </a:xfrm>
          <a:prstGeom prst="ellipse">
            <a:avLst/>
          </a:prstGeom>
          <a:solidFill>
            <a:srgbClr val="3F9E97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5056632" y="4142232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portal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4617720" y="4636008"/>
            <a:ext cx="2788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7A6D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Clients log in and see their own results. No PDF chasing.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8001000" y="3886200"/>
            <a:ext cx="3337560" cy="1691640"/>
          </a:xfrm>
          <a:prstGeom prst="roundRect">
            <a:avLst>
              <a:gd name="adj" fmla="val 648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25400" dir="5400000">
              <a:srgbClr val="1F2A52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8275320" y="4178808"/>
            <a:ext cx="310896" cy="310896"/>
          </a:xfrm>
          <a:prstGeom prst="ellipse">
            <a:avLst/>
          </a:prstGeom>
          <a:solidFill>
            <a:srgbClr val="E2735A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8714232" y="4142232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Reports &amp; export</a:t>
            </a:r>
            <a:endParaRPr lang="en-US" sz="1500" dirty="0"/>
          </a:p>
        </p:txBody>
      </p:sp>
      <p:sp>
        <p:nvSpPr>
          <p:cNvPr id="27" name="Text 25"/>
          <p:cNvSpPr txBox="1"/>
          <p:nvPr/>
        </p:nvSpPr>
        <p:spPr>
          <a:xfrm>
            <a:off x="8275320" y="4636008"/>
            <a:ext cx="2788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7A6D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Period reports that drop into her existing Canva templates.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F2A5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22860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E273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2697480"/>
            <a:ext cx="8229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4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platform, running on</a:t>
            </a:r>
            <a:endParaRPr lang="en-US" sz="3600" dirty="0"/>
          </a:p>
          <a:p>
            <a:pPr indent="0" marL="0">
              <a:lnSpc>
                <a:spcPts val="44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Tenyse's real client data.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434340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2E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 dashboard  →  a client's placements  →  AVE on a new placement  →  the client's own portal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4754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273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HARD PART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804672"/>
            <a:ext cx="10789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F2A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a placement was actually worth</a:t>
            </a:r>
            <a:endParaRPr lang="en-US" sz="380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1783080"/>
            <a:ext cx="6583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300"/>
              </a:lnSpc>
              <a:buNone/>
            </a:pPr>
            <a:r>
              <a:rPr lang="en-US" sz="1500" dirty="0">
                <a:solidFill>
                  <a:srgbClr val="2B2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 — advertising value equivalent — is how Tenyse's clients understand what she delivered. It's also the number the expensive tools exist to produce. So the agent had to get it right without inventing anything.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85800" y="3008376"/>
            <a:ext cx="274320" cy="274320"/>
          </a:xfrm>
          <a:prstGeom prst="ellipse">
            <a:avLst/>
          </a:prstGeom>
          <a:solidFill>
            <a:srgbClr val="3F9E97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143000" y="2971800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never guesses.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3886200" y="2971800"/>
            <a:ext cx="3657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7A6D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saved rate for an outlet means it says so — it will not fall back to a placeholder or a zero.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85800" y="4059936"/>
            <a:ext cx="274320" cy="274320"/>
          </a:xfrm>
          <a:prstGeom prst="ellipse">
            <a:avLst/>
          </a:prstGeom>
          <a:solidFill>
            <a:srgbClr val="3F9E97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1143000" y="4023360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shows its working.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3886200" y="4023360"/>
            <a:ext cx="3657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7A6D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estimate names the audience figure behind it, where that figure came from, and when.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85800" y="5111496"/>
            <a:ext cx="274320" cy="274320"/>
          </a:xfrm>
          <a:prstGeom prst="ellipse">
            <a:avLst/>
          </a:prstGeom>
          <a:solidFill>
            <a:srgbClr val="3F9E97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1143000" y="5074920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flags what's uncertain.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3886200" y="5074920"/>
            <a:ext cx="3657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7A6D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figure with a known data problem is marked, and the dashboard says how much of the total rests on it.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7818120" y="1737360"/>
            <a:ext cx="3657600" cy="4114800"/>
          </a:xfrm>
          <a:prstGeom prst="roundRect">
            <a:avLst>
              <a:gd name="adj" fmla="val 3500"/>
            </a:avLst>
          </a:prstGeom>
          <a:solidFill>
            <a:srgbClr val="1F2A52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8092440" y="2057400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b="1" dirty="0">
                <a:solidFill>
                  <a:srgbClr val="E273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from the same formulas the paid platforms publish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8092440" y="2926080"/>
            <a:ext cx="31089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F2E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Muck Rack and Agility PR both document how they calculate AVE. The platform applies both and shows the range, rather than pretending to a precision the industry doesn't have.</a:t>
            </a:r>
            <a:endParaRPr lang="en-US" sz="1250" dirty="0"/>
          </a:p>
        </p:txBody>
      </p:sp>
      <p:sp>
        <p:nvSpPr>
          <p:cNvPr id="17" name="Text 15"/>
          <p:cNvSpPr txBox="1"/>
          <p:nvPr/>
        </p:nvSpPr>
        <p:spPr>
          <a:xfrm>
            <a:off x="8092440" y="4800600"/>
            <a:ext cx="3108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250" i="1" dirty="0">
                <a:solidFill>
                  <a:srgbClr val="E1F2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Checked against Tenyse's own campaign results — the model lands within 1%.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E1F2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4754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273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BRIDGE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804672"/>
            <a:ext cx="10789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F2A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Coverage is the start, not the finish</a:t>
            </a:r>
            <a:endParaRPr lang="en-US" sz="380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1783080"/>
            <a:ext cx="5852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2B2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coaching modules came out of a pattern Tenyse kept seeing: a client lands national press, and then isn't sure what to do with it. Visibility doesn't convert itself.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85800" y="3200400"/>
            <a:ext cx="237744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86968" y="3401568"/>
            <a:ext cx="1975104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400" b="1" dirty="0">
                <a:solidFill>
                  <a:srgbClr val="1F2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Coverage lands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3063240" y="3611880"/>
            <a:ext cx="365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7A6D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3429000" y="3200400"/>
            <a:ext cx="237744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3630168" y="3401568"/>
            <a:ext cx="1975104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400" b="1" dirty="0">
                <a:solidFill>
                  <a:srgbClr val="1F2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is coached through it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5806440" y="3611880"/>
            <a:ext cx="365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7A6D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600" dirty="0"/>
          </a:p>
        </p:txBody>
      </p:sp>
      <p:sp>
        <p:nvSpPr>
          <p:cNvPr id="11" name="Shape 9"/>
          <p:cNvSpPr/>
          <p:nvPr/>
        </p:nvSpPr>
        <p:spPr>
          <a:xfrm>
            <a:off x="6172200" y="3200400"/>
            <a:ext cx="237744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373368" y="3401568"/>
            <a:ext cx="1975104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400" b="1" dirty="0">
                <a:solidFill>
                  <a:srgbClr val="1F2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turns into revenue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8549640" y="3611880"/>
            <a:ext cx="365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7A6D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600" dirty="0"/>
          </a:p>
        </p:txBody>
      </p:sp>
      <p:sp>
        <p:nvSpPr>
          <p:cNvPr id="14" name="Shape 12"/>
          <p:cNvSpPr/>
          <p:nvPr/>
        </p:nvSpPr>
        <p:spPr>
          <a:xfrm>
            <a:off x="8915400" y="3200400"/>
            <a:ext cx="2377440" cy="1371600"/>
          </a:xfrm>
          <a:prstGeom prst="roundRect">
            <a:avLst>
              <a:gd name="adj" fmla="val 8000"/>
            </a:avLst>
          </a:prstGeom>
          <a:solidFill>
            <a:srgbClr val="E2735A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9116568" y="3401568"/>
            <a:ext cx="1975104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Community becomes the next channel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685800" y="50292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i="1" dirty="0">
                <a:solidFill>
                  <a:srgbClr val="1F2A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That last step is where Raise Local begins.</a:t>
            </a:r>
            <a:endParaRPr lang="en-US" sz="2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F2A5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13716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E273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RAISE LOCAL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178308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gap we're filling</a:t>
            </a:r>
            <a:endParaRPr lang="en-US" sz="3800" dirty="0"/>
          </a:p>
        </p:txBody>
      </p:sp>
      <p:sp>
        <p:nvSpPr>
          <p:cNvPr id="4" name="Shape 2"/>
          <p:cNvSpPr/>
          <p:nvPr/>
        </p:nvSpPr>
        <p:spPr>
          <a:xfrm>
            <a:off x="685800" y="2834640"/>
            <a:ext cx="5120640" cy="1508760"/>
          </a:xfrm>
          <a:prstGeom prst="roundRect">
            <a:avLst>
              <a:gd name="adj" fmla="val 7273"/>
            </a:avLst>
          </a:prstGeom>
          <a:solidFill>
            <a:srgbClr val="2E3B6E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005840" y="306324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Schools and nonprofits need support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1005840" y="3456432"/>
            <a:ext cx="4480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F2E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campaigns and events, and rarely a budget to run them.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400800" y="2834640"/>
            <a:ext cx="5074920" cy="1508760"/>
          </a:xfrm>
          <a:prstGeom prst="roundRect">
            <a:avLst>
              <a:gd name="adj" fmla="val 7273"/>
            </a:avLst>
          </a:prstGeom>
          <a:solidFill>
            <a:srgbClr val="2E3B6E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720840" y="3063240"/>
            <a:ext cx="4434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Businesses want to give back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6720840" y="3456432"/>
            <a:ext cx="4434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F2E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Meaningfully, and in a way that reaches their own neighbourhood.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85800" y="4617720"/>
            <a:ext cx="10789920" cy="1371600"/>
          </a:xfrm>
          <a:prstGeom prst="roundRect">
            <a:avLst>
              <a:gd name="adj" fmla="val 8000"/>
            </a:avLst>
          </a:prstGeom>
          <a:solidFill>
            <a:srgbClr val="E2735A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1051560" y="4800600"/>
            <a:ext cx="10058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There is no simple, structured way to match them.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1051560" y="5212080"/>
            <a:ext cx="10058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Corporate gifting closes it — businesses give products or gift packages straight to a campaign, an event, or a community need. Not only cash sponsorship.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4754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273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804672"/>
            <a:ext cx="10789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F2A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short intake, then a real match</a:t>
            </a:r>
            <a:endParaRPr lang="en-US" sz="380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1783080"/>
            <a:ext cx="6035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300"/>
              </a:lnSpc>
              <a:buNone/>
            </a:pPr>
            <a:r>
              <a:rPr lang="en-US" sz="1500" dirty="0">
                <a:solidFill>
                  <a:srgbClr val="2B2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sides answer the same ten-question Match Finder. A decision tree reads the answers and surfaces partners that actually fit — cause, category, location, timing and the kind of support being offered.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3017520"/>
            <a:ext cx="6035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kind of partner would best support your campaign?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85800" y="3520440"/>
            <a:ext cx="1531620" cy="438912"/>
          </a:xfrm>
          <a:prstGeom prst="roundRect">
            <a:avLst>
              <a:gd name="adj" fmla="val 50000"/>
            </a:avLst>
          </a:prstGeom>
          <a:solidFill>
            <a:srgbClr val="F2EEE8"/>
          </a:solidFill>
          <a:ln w="12700">
            <a:solidFill>
              <a:srgbClr val="DDD6C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85800" y="3520440"/>
            <a:ext cx="15316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2B2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Food &amp; beverage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2382012" y="3520440"/>
            <a:ext cx="2619756" cy="438912"/>
          </a:xfrm>
          <a:prstGeom prst="roundRect">
            <a:avLst>
              <a:gd name="adj" fmla="val 50000"/>
            </a:avLst>
          </a:prstGeom>
          <a:solidFill>
            <a:srgbClr val="FBE2DA"/>
          </a:solidFill>
          <a:ln w="12700">
            <a:solidFill>
              <a:srgbClr val="E2735A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382012" y="3520440"/>
            <a:ext cx="261975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C85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Products or corporate gifting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85800" y="4087368"/>
            <a:ext cx="1997964" cy="438912"/>
          </a:xfrm>
          <a:prstGeom prst="roundRect">
            <a:avLst>
              <a:gd name="adj" fmla="val 50000"/>
            </a:avLst>
          </a:prstGeom>
          <a:solidFill>
            <a:srgbClr val="F2EEE8"/>
          </a:solidFill>
          <a:ln w="12700">
            <a:solidFill>
              <a:srgbClr val="DDD6CE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85800" y="4087368"/>
            <a:ext cx="199796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2B2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Professional services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2848356" y="4087368"/>
            <a:ext cx="1220724" cy="438912"/>
          </a:xfrm>
          <a:prstGeom prst="roundRect">
            <a:avLst>
              <a:gd name="adj" fmla="val 50000"/>
            </a:avLst>
          </a:prstGeom>
          <a:solidFill>
            <a:srgbClr val="F2EEE8"/>
          </a:solidFill>
          <a:ln w="12700">
            <a:solidFill>
              <a:srgbClr val="DDD6CE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2848356" y="4087368"/>
            <a:ext cx="122072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2B2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media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4233672" y="4087368"/>
            <a:ext cx="1220724" cy="438912"/>
          </a:xfrm>
          <a:prstGeom prst="roundRect">
            <a:avLst>
              <a:gd name="adj" fmla="val 50000"/>
            </a:avLst>
          </a:prstGeom>
          <a:solidFill>
            <a:srgbClr val="F2EEE8"/>
          </a:solidFill>
          <a:ln w="12700">
            <a:solidFill>
              <a:srgbClr val="DDD6CE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233672" y="4087368"/>
            <a:ext cx="122072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2B2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Venue space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85800" y="4654296"/>
            <a:ext cx="1609344" cy="438912"/>
          </a:xfrm>
          <a:prstGeom prst="roundRect">
            <a:avLst>
              <a:gd name="adj" fmla="val 50000"/>
            </a:avLst>
          </a:prstGeom>
          <a:solidFill>
            <a:srgbClr val="F2EEE8"/>
          </a:solidFill>
          <a:ln w="12700">
            <a:solidFill>
              <a:srgbClr val="DDD6CE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85800" y="4654296"/>
            <a:ext cx="160934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2B2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 activation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2459736" y="4654296"/>
            <a:ext cx="1997964" cy="438912"/>
          </a:xfrm>
          <a:prstGeom prst="roundRect">
            <a:avLst>
              <a:gd name="adj" fmla="val 50000"/>
            </a:avLst>
          </a:prstGeom>
          <a:solidFill>
            <a:srgbClr val="F2EEE8"/>
          </a:solidFill>
          <a:ln w="12700">
            <a:solidFill>
              <a:srgbClr val="DDD6CE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2459736" y="4654296"/>
            <a:ext cx="199796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2B2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Corporate sponsorship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7406640" y="1737360"/>
            <a:ext cx="4069080" cy="4160520"/>
          </a:xfrm>
          <a:prstGeom prst="roundRect">
            <a:avLst>
              <a:gd name="adj" fmla="val 3146"/>
            </a:avLst>
          </a:prstGeom>
          <a:solidFill>
            <a:srgbClr val="1F2A52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7726680" y="205740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273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a decision tree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7726680" y="2560320"/>
            <a:ext cx="34747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F2E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match can be explained. You can point at the answers that produced it and say why these two were put together — which matters when you're asking a business to give something away, and a school to stake an event on it.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7726680" y="5029200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i="1" dirty="0">
                <a:solidFill>
                  <a:srgbClr val="E1F2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Not a black box. That's deliberate.</a:t>
            </a:r>
            <a:endParaRPr lang="en-US" sz="1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2EE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4754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273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MATCH IN PRACTICE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804672"/>
            <a:ext cx="10789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F2A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PS 120 PTA, meet Sophia &amp; Grace</a:t>
            </a:r>
            <a:endParaRPr lang="en-US" sz="3800" dirty="0"/>
          </a:p>
        </p:txBody>
      </p:sp>
      <p:sp>
        <p:nvSpPr>
          <p:cNvPr id="4" name="Shape 2"/>
          <p:cNvSpPr/>
          <p:nvPr/>
        </p:nvSpPr>
        <p:spPr>
          <a:xfrm>
            <a:off x="685800" y="1828800"/>
            <a:ext cx="5029200" cy="1965960"/>
          </a:xfrm>
          <a:prstGeom prst="roundRect">
            <a:avLst>
              <a:gd name="adj" fmla="val 5581"/>
            </a:avLst>
          </a:prstGeom>
          <a:solidFill>
            <a:srgbClr val="FFFFFF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005840" y="2057400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3F9E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ASK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1005840" y="2377440"/>
            <a:ext cx="4389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2B2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school PTA in Brooklyn raising $8,000 for after-school programs, one to three months out.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309360" y="1828800"/>
            <a:ext cx="5166360" cy="1965960"/>
          </a:xfrm>
          <a:prstGeom prst="roundRect">
            <a:avLst>
              <a:gd name="adj" fmla="val 5581"/>
            </a:avLst>
          </a:prstGeom>
          <a:solidFill>
            <a:srgbClr val="FFFFFF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629400" y="2057400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273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PARTNER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6629400" y="2377440"/>
            <a:ext cx="44805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2B2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Sophia &amp; Grace — a local bakery that can take volume orders and wants to show up for its own neighbourhood.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85800" y="4114800"/>
            <a:ext cx="2514600" cy="1234440"/>
          </a:xfrm>
          <a:prstGeom prst="roundRect">
            <a:avLst>
              <a:gd name="adj" fmla="val 8889"/>
            </a:avLst>
          </a:prstGeom>
          <a:solidFill>
            <a:srgbClr val="1F2A52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14400" y="4279392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$2.75</a:t>
            </a:r>
            <a:endParaRPr lang="en-US" sz="2600" dirty="0"/>
          </a:p>
        </p:txBody>
      </p:sp>
      <p:sp>
        <p:nvSpPr>
          <p:cNvPr id="12" name="Text 10"/>
          <p:cNvSpPr txBox="1"/>
          <p:nvPr/>
        </p:nvSpPr>
        <p:spPr>
          <a:xfrm>
            <a:off x="914400" y="4828032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1F2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cookie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3429000" y="4114800"/>
            <a:ext cx="2514600" cy="1234440"/>
          </a:xfrm>
          <a:prstGeom prst="roundRect">
            <a:avLst>
              <a:gd name="adj" fmla="val 8889"/>
            </a:avLst>
          </a:prstGeom>
          <a:solidFill>
            <a:srgbClr val="1F2A52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3657600" y="4279392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$32</a:t>
            </a:r>
            <a:endParaRPr lang="en-US" sz="2600" dirty="0"/>
          </a:p>
        </p:txBody>
      </p:sp>
      <p:sp>
        <p:nvSpPr>
          <p:cNvPr id="15" name="Text 13"/>
          <p:cNvSpPr txBox="1"/>
          <p:nvPr/>
        </p:nvSpPr>
        <p:spPr>
          <a:xfrm>
            <a:off x="3657600" y="4828032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1F2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dozen box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172200" y="4114800"/>
            <a:ext cx="2514600" cy="1234440"/>
          </a:xfrm>
          <a:prstGeom prst="roundRect">
            <a:avLst>
              <a:gd name="adj" fmla="val 8889"/>
            </a:avLst>
          </a:prstGeom>
          <a:solidFill>
            <a:srgbClr val="1F2A52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400800" y="4279392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 doz.</a:t>
            </a:r>
            <a:endParaRPr lang="en-US" sz="2600" dirty="0"/>
          </a:p>
        </p:txBody>
      </p:sp>
      <p:sp>
        <p:nvSpPr>
          <p:cNvPr id="18" name="Text 16"/>
          <p:cNvSpPr txBox="1"/>
          <p:nvPr/>
        </p:nvSpPr>
        <p:spPr>
          <a:xfrm>
            <a:off x="6400800" y="4828032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1F2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minimum order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8915400" y="4114800"/>
            <a:ext cx="2514600" cy="1234440"/>
          </a:xfrm>
          <a:prstGeom prst="roundRect">
            <a:avLst>
              <a:gd name="adj" fmla="val 8889"/>
            </a:avLst>
          </a:prstGeom>
          <a:solidFill>
            <a:srgbClr val="1F2A52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9144000" y="4279392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2–3 days</a:t>
            </a:r>
            <a:endParaRPr lang="en-US" sz="2600" dirty="0"/>
          </a:p>
        </p:txBody>
      </p:sp>
      <p:sp>
        <p:nvSpPr>
          <p:cNvPr id="21" name="Text 19"/>
          <p:cNvSpPr txBox="1"/>
          <p:nvPr/>
        </p:nvSpPr>
        <p:spPr>
          <a:xfrm>
            <a:off x="9144000" y="4828032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1F2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turnaround at volume</a:t>
            </a:r>
            <a:endParaRPr lang="en-US" sz="1150" dirty="0"/>
          </a:p>
        </p:txBody>
      </p:sp>
      <p:sp>
        <p:nvSpPr>
          <p:cNvPr id="22" name="Text 20"/>
          <p:cNvSpPr txBox="1"/>
          <p:nvPr/>
        </p:nvSpPr>
        <p:spPr>
          <a:xfrm>
            <a:off x="685800" y="5577840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7A6D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pricing from a real business — the match copy fills in from it, so a PTA sees what the partnership actually yields.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4754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273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THIS GOES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804672"/>
            <a:ext cx="10789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F2A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Built to keep going after today</a:t>
            </a:r>
            <a:endParaRPr lang="en-US" sz="3800" dirty="0"/>
          </a:p>
        </p:txBody>
      </p:sp>
      <p:sp>
        <p:nvSpPr>
          <p:cNvPr id="4" name="Shape 2"/>
          <p:cNvSpPr/>
          <p:nvPr/>
        </p:nvSpPr>
        <p:spPr>
          <a:xfrm>
            <a:off x="685800" y="1965960"/>
            <a:ext cx="475488" cy="475488"/>
          </a:xfrm>
          <a:prstGeom prst="ellipse">
            <a:avLst/>
          </a:prstGeom>
          <a:solidFill>
            <a:srgbClr val="3F9E97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85800" y="196596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417320" y="1947672"/>
            <a:ext cx="6035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2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to Tenyse's own database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1417320" y="2331720"/>
            <a:ext cx="5943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7A6D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Moving the platform onto her Supabase account so it's hers outright — data, keys and all.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85800" y="3291840"/>
            <a:ext cx="475488" cy="475488"/>
          </a:xfrm>
          <a:prstGeom prst="ellipse">
            <a:avLst/>
          </a:prstGeom>
          <a:solidFill>
            <a:srgbClr val="3F9E97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85800" y="329184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1417320" y="3273552"/>
            <a:ext cx="6035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2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Discovery agent on a schedule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1417320" y="3657600"/>
            <a:ext cx="5943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7A6D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Coverage found and queued automatically, instead of a search she has to remember to run.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85800" y="4617720"/>
            <a:ext cx="475488" cy="475488"/>
          </a:xfrm>
          <a:prstGeom prst="ellipse">
            <a:avLst/>
          </a:prstGeom>
          <a:solidFill>
            <a:srgbClr val="E2735A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85800" y="461772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1417320" y="4599432"/>
            <a:ext cx="6035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2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Raise Local, built out</a:t>
            </a:r>
            <a:endParaRPr lang="en-US" sz="1700" dirty="0"/>
          </a:p>
        </p:txBody>
      </p:sp>
      <p:sp>
        <p:nvSpPr>
          <p:cNvPr id="15" name="Text 13"/>
          <p:cNvSpPr txBox="1"/>
          <p:nvPr/>
        </p:nvSpPr>
        <p:spPr>
          <a:xfrm>
            <a:off x="1417320" y="4983480"/>
            <a:ext cx="5943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7A6D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matchmaking shown today becomes the working product, with real signups already waiting.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7589520" y="1920240"/>
            <a:ext cx="3886200" cy="3657600"/>
          </a:xfrm>
          <a:prstGeom prst="roundRect">
            <a:avLst>
              <a:gd name="adj" fmla="val 3500"/>
            </a:avLst>
          </a:prstGeom>
          <a:solidFill>
            <a:srgbClr val="FBE2DA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7909560" y="224028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85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point of all of it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7909560" y="2743200"/>
            <a:ext cx="329184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2B2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independent practice gets the measurement infrastructure that used to require an enterprise contract — and keeps the relationships that made the work good in the first place.</a:t>
            </a:r>
            <a:endParaRPr lang="en-US" sz="13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F2A5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463040" y="3931920"/>
            <a:ext cx="4206240" cy="4206240"/>
          </a:xfrm>
          <a:prstGeom prst="ellipse">
            <a:avLst/>
          </a:prstGeom>
          <a:solidFill>
            <a:srgbClr val="2E3B6E"/>
          </a:solidFill>
          <a:ln/>
        </p:spPr>
      </p:sp>
      <p:sp>
        <p:nvSpPr>
          <p:cNvPr id="3" name="Shape 1"/>
          <p:cNvSpPr/>
          <p:nvPr/>
        </p:nvSpPr>
        <p:spPr>
          <a:xfrm>
            <a:off x="10241280" y="-1097280"/>
            <a:ext cx="3291840" cy="3291840"/>
          </a:xfrm>
          <a:prstGeom prst="ellipse">
            <a:avLst/>
          </a:prstGeom>
          <a:solidFill>
            <a:srgbClr val="E2735A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85800" y="246888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6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356616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600"/>
              </a:lnSpc>
              <a:buNone/>
            </a:pPr>
            <a:r>
              <a:rPr lang="en-US" sz="1600" dirty="0">
                <a:solidFill>
                  <a:srgbClr val="F2E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Tenyse Williams — Verified Consulting</a:t>
            </a:r>
            <a:endParaRPr lang="en-US" sz="1600" dirty="0"/>
          </a:p>
          <a:p>
            <a:pPr indent="0" marL="0">
              <a:lnSpc>
                <a:spcPts val="2600"/>
              </a:lnSpc>
              <a:buNone/>
            </a:pPr>
            <a:r>
              <a:rPr lang="en-US" sz="1600" dirty="0">
                <a:solidFill>
                  <a:srgbClr val="F2E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Cherice Heron — Pursuit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51206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273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verifiedconsulting.com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Verified Consulting — Demo Day</dc:title>
  <dc:subject>PptxGenJS Presentation</dc:subject>
  <dc:creator>Cherice Heron</dc:creator>
  <cp:lastModifiedBy>Cherice Heron</cp:lastModifiedBy>
  <cp:revision>1</cp:revision>
  <dcterms:created xsi:type="dcterms:W3CDTF">2026-09-17T22:23:06Z</dcterms:created>
  <dcterms:modified xsi:type="dcterms:W3CDTF">2026-09-17T22:23:06Z</dcterms:modified>
</cp:coreProperties>
</file>